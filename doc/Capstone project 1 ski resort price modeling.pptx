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0" r:id="rId1"/>
  </p:sldMasterIdLst>
  <p:notesMasterIdLst>
    <p:notesMasterId r:id="rId14"/>
  </p:notesMasterIdLst>
  <p:sldIdLst>
    <p:sldId id="257" r:id="rId2"/>
    <p:sldId id="258" r:id="rId3"/>
    <p:sldId id="260" r:id="rId4"/>
    <p:sldId id="259" r:id="rId5"/>
    <p:sldId id="261" r:id="rId6"/>
    <p:sldId id="262" r:id="rId7"/>
    <p:sldId id="263" r:id="rId8"/>
    <p:sldId id="266" r:id="rId9"/>
    <p:sldId id="264" r:id="rId10"/>
    <p:sldId id="265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15" roundtripDataSignature="AMtx7mjdo7FECp685JsX7/4pIVeoAktj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1960" y="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36697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87334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66609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80911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72179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344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20215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26052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41839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53597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88437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664525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82081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49498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283839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26234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52855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3347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7D3E55-0A5A-4B11-83BD-ADBFD2B6C3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CAP1: Big Mountain Resort modeling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6B1D5A2-A822-47D5-A985-299EEC1175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Irina Kim</a:t>
            </a:r>
          </a:p>
        </p:txBody>
      </p:sp>
    </p:spTree>
    <p:extLst>
      <p:ext uri="{BB962C8B-B14F-4D97-AF65-F5344CB8AC3E}">
        <p14:creationId xmlns:p14="http://schemas.microsoft.com/office/powerpoint/2010/main" val="3036568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CC747-8DD0-41E8-9E62-0D7132A37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id: Are We Underpricing the resort?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E89C2-BB8A-4294-9F44-9155EE684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2096064"/>
            <a:ext cx="7765322" cy="3997202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The Situation</a:t>
            </a:r>
            <a:br>
              <a:rPr lang="en-US" dirty="0"/>
            </a:br>
            <a:r>
              <a:rPr lang="en-US" dirty="0"/>
              <a:t>Big Mountain Resort is widely viewed as a </a:t>
            </a:r>
            <a:r>
              <a:rPr lang="en-US" i="1" dirty="0"/>
              <a:t>local favorite</a:t>
            </a:r>
            <a:r>
              <a:rPr lang="en-US" dirty="0"/>
              <a:t>, but its infrastructure, capacity, and terrain profile resemble </a:t>
            </a:r>
            <a:r>
              <a:rPr lang="en-US" b="1" dirty="0"/>
              <a:t>top-tier market leaders</a:t>
            </a:r>
            <a:r>
              <a:rPr lang="en-US" dirty="0"/>
              <a:t>.</a:t>
            </a:r>
          </a:p>
          <a:p>
            <a:r>
              <a:rPr lang="en-US" b="1" dirty="0"/>
              <a:t>The Risk</a:t>
            </a:r>
            <a:endParaRPr lang="en-US" dirty="0"/>
          </a:p>
          <a:p>
            <a:pPr lvl="1"/>
            <a:r>
              <a:rPr lang="en-US" dirty="0"/>
              <a:t>Premium experience delivered at a </a:t>
            </a:r>
            <a:r>
              <a:rPr lang="en-US" b="1" dirty="0"/>
              <a:t>value-market price</a:t>
            </a:r>
            <a:endParaRPr lang="en-US" dirty="0"/>
          </a:p>
          <a:p>
            <a:pPr lvl="1"/>
            <a:r>
              <a:rPr lang="en-US" dirty="0"/>
              <a:t>Potentially leaving </a:t>
            </a:r>
            <a:r>
              <a:rPr lang="en-US" b="1" dirty="0"/>
              <a:t>significant revenue unrealized</a:t>
            </a:r>
            <a:endParaRPr lang="en-US" dirty="0"/>
          </a:p>
          <a:p>
            <a:pPr lvl="1"/>
            <a:r>
              <a:rPr lang="en-US" dirty="0"/>
              <a:t>Pricing decisions historically driven by tradition rather than data</a:t>
            </a:r>
          </a:p>
          <a:p>
            <a:r>
              <a:rPr lang="en-US" b="1" dirty="0"/>
              <a:t>Executive Question</a:t>
            </a:r>
            <a:br>
              <a:rPr lang="en-US" dirty="0"/>
            </a:br>
            <a:r>
              <a:rPr lang="en-US" i="1" dirty="0"/>
              <a:t>Is Big Mountain priced according to what it actually offers? </a:t>
            </a:r>
          </a:p>
          <a:p>
            <a:r>
              <a:rPr lang="en-US" dirty="0"/>
              <a:t>➡️ </a:t>
            </a:r>
            <a:r>
              <a:rPr lang="en-US" b="1" dirty="0"/>
              <a:t>Decision Required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Need to realign pricing to reflect Big Mountain’s true market position</a:t>
            </a:r>
          </a:p>
          <a:p>
            <a:r>
              <a:rPr lang="en-US" sz="2000" dirty="0"/>
              <a:t>Our solution</a:t>
            </a:r>
            <a:r>
              <a:rPr lang="en-US" dirty="0"/>
              <a:t>: we</a:t>
            </a:r>
            <a:r>
              <a:rPr lang="en-US" sz="2000" dirty="0"/>
              <a:t> develop a predictive pricing model using the </a:t>
            </a:r>
            <a:r>
              <a:rPr lang="en-US" sz="2000" b="1" dirty="0"/>
              <a:t>competitor dataset of 330 US resorts</a:t>
            </a:r>
            <a:r>
              <a:rPr lang="en-US" sz="2000" dirty="0"/>
              <a:t> to recommend an optimal weekend ticket price for Big Mountain. This recommendation must be delivered </a:t>
            </a:r>
            <a:r>
              <a:rPr lang="en-US" sz="2000" b="1" dirty="0"/>
              <a:t>before the upcoming winter season's</a:t>
            </a:r>
            <a:r>
              <a:rPr lang="en-US" sz="2000" dirty="0"/>
              <a:t> pricing is finalized. The project is successful if the model's recommended price can cover the new lift's </a:t>
            </a:r>
            <a:r>
              <a:rPr lang="en-US" sz="2000" b="1" dirty="0"/>
              <a:t>$1,540,000 operating cost</a:t>
            </a:r>
            <a:r>
              <a:rPr lang="en-US" sz="2000" dirty="0"/>
              <a:t> and the model achieves a predictive accuracy of at least 75% price variance in the market.</a:t>
            </a:r>
            <a:endParaRPr lang="en-US" dirty="0"/>
          </a:p>
          <a:p>
            <a:endParaRPr lang="en-US" sz="20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2E3F4B3-016F-44DC-945C-E4086E31532F}"/>
              </a:ext>
            </a:extLst>
          </p:cNvPr>
          <p:cNvSpPr/>
          <p:nvPr/>
        </p:nvSpPr>
        <p:spPr>
          <a:xfrm>
            <a:off x="455150" y="4924639"/>
            <a:ext cx="8114787" cy="136134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778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CC747-8DD0-41E8-9E62-0D7132A37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context: How to find data-driven solution?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E89C2-BB8A-4294-9F44-9155EE684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2000" dirty="0"/>
              <a:t>SOURCES:</a:t>
            </a:r>
          </a:p>
          <a:p>
            <a:r>
              <a:rPr lang="en-US" sz="2000" dirty="0"/>
              <a:t>Sole data source for this project: a single CSV file from DB manager, that contains aggregated data on </a:t>
            </a:r>
            <a:r>
              <a:rPr lang="en-US" sz="2000" b="1" dirty="0"/>
              <a:t>330 competitor resorts in the US market. </a:t>
            </a:r>
            <a:r>
              <a:rPr lang="en-US" sz="2000" dirty="0"/>
              <a:t>Key features are</a:t>
            </a:r>
            <a:r>
              <a:rPr lang="en-US" sz="2000" b="1" dirty="0"/>
              <a:t> vertical drop, number of runs, lifts, number of trams, chairs, average snowfall days and weekend ticket prices</a:t>
            </a:r>
            <a:endParaRPr lang="en-US" sz="2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lang="en-US" dirty="0"/>
              <a:t>SCOPE: </a:t>
            </a:r>
          </a:p>
          <a:p>
            <a:r>
              <a:rPr lang="en-US" sz="2000" dirty="0"/>
              <a:t>We will explore and clean resort data, then build a multiple linear regression model to predict ticket prices. Finally, we'll use the model's insights to recommend an optimal ticket price and provide a comprehensive report for stakeholders.</a:t>
            </a:r>
          </a:p>
          <a:p>
            <a:r>
              <a:rPr lang="en-US" sz="2000" dirty="0"/>
              <a:t>STAKEHOLDERS: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0" i="0" u="none" strike="noStrike" cap="none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en-US" sz="2000" dirty="0"/>
              <a:t>Jimmy Blackburn (Director of Operations): The primary decision-maker and consumer of this analysis. He will use the findings to set ticket prices and guide capital investment strategy.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2000" dirty="0"/>
              <a:t> Alesha Eisen (Database Manager): The owner and provider of the data. </a:t>
            </a:r>
            <a:endParaRPr lang="en-US" sz="2000" dirty="0"/>
          </a:p>
          <a:p>
            <a:endParaRPr lang="en-US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869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CC747-8DD0-41E8-9E62-0D7132A37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CRITERIA for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E89C2-BB8A-4294-9F44-9155EE684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3400" dirty="0"/>
              <a:t>Model Performance: a predictive model that explains at least 75% of the ticket price variance in the market (R2≥0.75).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400" dirty="0"/>
              <a:t>Actionable Insights: identify and rank the top 3-5 resort features that are the most powerful drivers of ticket price.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400" dirty="0"/>
              <a:t>Financial Goal: The model's recommended pricing strategy, when implemented, must aim to generate enough additional revenue to cover the new lift's $1,540,000 annual operating cost.</a:t>
            </a:r>
          </a:p>
          <a:p>
            <a:endParaRPr lang="en-US" sz="2500" dirty="0"/>
          </a:p>
          <a:p>
            <a:r>
              <a:rPr lang="en-US" sz="2800" b="1" dirty="0"/>
              <a:t>Constraints</a:t>
            </a:r>
            <a:r>
              <a:rPr lang="en-US" sz="2800" dirty="0"/>
              <a:t>:</a:t>
            </a:r>
          </a:p>
          <a:p>
            <a:pPr lvl="1"/>
            <a:r>
              <a:rPr lang="en-US" sz="2600" dirty="0"/>
              <a:t>Data Limitations: The dataset does not include qualitative factors like snow quality, brand reputation, customer service, or local market dynamics, which also influence pricing.</a:t>
            </a:r>
          </a:p>
          <a:p>
            <a:pPr lvl="1"/>
            <a:r>
              <a:rPr lang="en-US" sz="2600" dirty="0"/>
              <a:t>Market Elasticity: The model recommends a price based on features, but it cannot predict how customers will react to a price change. A significant price increase, even if justified, could potentially impact visitor numbers.</a:t>
            </a:r>
          </a:p>
          <a:p>
            <a:endParaRPr lang="en-US" sz="25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45D68B7-B4A8-4BA2-AD2E-820177DBF8CC}"/>
              </a:ext>
            </a:extLst>
          </p:cNvPr>
          <p:cNvSpPr/>
          <p:nvPr/>
        </p:nvSpPr>
        <p:spPr>
          <a:xfrm>
            <a:off x="381342" y="1972316"/>
            <a:ext cx="8266504" cy="220194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035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CC747-8DD0-41E8-9E62-0D7132A37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Recommendation &amp; Key Findings — The $23M Opportunity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E89C2-BB8A-4294-9F44-9155EE684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2096064"/>
            <a:ext cx="7765322" cy="3997202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Core Insight</a:t>
            </a:r>
            <a:br>
              <a:rPr lang="en-US" dirty="0"/>
            </a:br>
            <a:r>
              <a:rPr lang="en-US" dirty="0"/>
              <a:t>Big Mountain is providing a premium mountain experience at a </a:t>
            </a:r>
            <a:r>
              <a:rPr lang="en-US" b="1" dirty="0"/>
              <a:t>discounted price</a:t>
            </a:r>
            <a:r>
              <a:rPr lang="en-US" dirty="0"/>
              <a:t>.</a:t>
            </a:r>
          </a:p>
          <a:p>
            <a:r>
              <a:rPr lang="en-US" b="1" dirty="0"/>
              <a:t>The Value Gap</a:t>
            </a:r>
            <a:endParaRPr lang="en-US" dirty="0"/>
          </a:p>
          <a:p>
            <a:pPr lvl="1"/>
            <a:r>
              <a:rPr lang="en-US" b="1" dirty="0"/>
              <a:t>Current Ticket Price:</a:t>
            </a:r>
            <a:r>
              <a:rPr lang="en-US" dirty="0"/>
              <a:t> $81.00</a:t>
            </a:r>
          </a:p>
          <a:p>
            <a:pPr lvl="1"/>
            <a:r>
              <a:rPr lang="en-US" b="1" dirty="0"/>
              <a:t>Model-Supported Price:</a:t>
            </a:r>
            <a:r>
              <a:rPr lang="en-US" dirty="0"/>
              <a:t> $94.22</a:t>
            </a:r>
          </a:p>
          <a:p>
            <a:pPr lvl="1"/>
            <a:r>
              <a:rPr lang="en-US" b="1" dirty="0"/>
              <a:t>Uncaptured Value:</a:t>
            </a:r>
            <a:r>
              <a:rPr lang="en-US" dirty="0"/>
              <a:t> $13.22 per ticket</a:t>
            </a:r>
          </a:p>
          <a:p>
            <a:r>
              <a:rPr lang="en-US" b="1" dirty="0"/>
              <a:t>Business Impact</a:t>
            </a:r>
            <a:endParaRPr lang="en-US" dirty="0"/>
          </a:p>
          <a:p>
            <a:pPr lvl="1"/>
            <a:r>
              <a:rPr lang="en-US" dirty="0"/>
              <a:t>Closing the gap generates </a:t>
            </a:r>
            <a:r>
              <a:rPr lang="en-US" b="1" dirty="0"/>
              <a:t>$23.1M in annual revenue</a:t>
            </a:r>
            <a:endParaRPr lang="en-US" dirty="0"/>
          </a:p>
          <a:p>
            <a:pPr lvl="1"/>
            <a:r>
              <a:rPr lang="en-US" dirty="0"/>
              <a:t>Achieved through market </a:t>
            </a:r>
            <a:r>
              <a:rPr lang="en-US" b="1" dirty="0"/>
              <a:t>price realignment</a:t>
            </a:r>
            <a:r>
              <a:rPr lang="en-US" dirty="0"/>
              <a:t>, not volume growth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Findings: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Price Elasticity:</a:t>
            </a:r>
            <a:r>
              <a:rPr lang="en-US" dirty="0"/>
              <a:t> Our facilities support a </a:t>
            </a:r>
            <a:r>
              <a:rPr lang="en-US" b="1" dirty="0"/>
              <a:t>16% price increase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Lift ROI:</a:t>
            </a:r>
            <a:r>
              <a:rPr lang="en-US" dirty="0"/>
              <a:t> The new $1.54M lift costs only </a:t>
            </a:r>
            <a:r>
              <a:rPr lang="en-US" b="1" dirty="0"/>
              <a:t>$0.88 per ticket</a:t>
            </a:r>
            <a:r>
              <a:rPr lang="en-US" dirty="0"/>
              <a:t>; it is easily justified by the new price point.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Efficiency:</a:t>
            </a:r>
            <a:r>
              <a:rPr lang="en-US" dirty="0"/>
              <a:t> Closing low-traffic runs has </a:t>
            </a:r>
            <a:r>
              <a:rPr lang="en-US" b="1" dirty="0"/>
              <a:t>zero impact</a:t>
            </a:r>
            <a:r>
              <a:rPr lang="en-US" dirty="0"/>
              <a:t> on price potential but reduces overhead.</a:t>
            </a:r>
          </a:p>
          <a:p>
            <a:r>
              <a:rPr lang="en-US" b="1" dirty="0"/>
              <a:t>Recommendation</a:t>
            </a:r>
            <a:br>
              <a:rPr lang="en-US" dirty="0"/>
            </a:br>
            <a:r>
              <a:rPr lang="en-US" dirty="0"/>
              <a:t>✅ Proceed with a phased move toward the $94 price point</a:t>
            </a:r>
          </a:p>
          <a:p>
            <a:endParaRPr lang="en-US" sz="20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2E3F4B3-016F-44DC-945C-E4086E31532F}"/>
              </a:ext>
            </a:extLst>
          </p:cNvPr>
          <p:cNvSpPr/>
          <p:nvPr/>
        </p:nvSpPr>
        <p:spPr>
          <a:xfrm>
            <a:off x="404002" y="4453089"/>
            <a:ext cx="8215141" cy="201331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624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CC747-8DD0-41E8-9E62-0D7132A37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Modeling Approach — How We Arrived at $94.22 PRICE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E89C2-BB8A-4294-9F44-9155EE684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2096064"/>
            <a:ext cx="7765322" cy="3997202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What We Modeled</a:t>
            </a:r>
            <a:endParaRPr lang="en-US" dirty="0"/>
          </a:p>
          <a:p>
            <a:pPr lvl="1"/>
            <a:r>
              <a:rPr lang="en-US" dirty="0"/>
              <a:t>330 North American ski resort data</a:t>
            </a:r>
          </a:p>
          <a:p>
            <a:pPr lvl="1"/>
            <a:r>
              <a:rPr lang="en-US" dirty="0"/>
              <a:t>Ticket prices relative to physical and operational features</a:t>
            </a:r>
          </a:p>
          <a:p>
            <a:r>
              <a:rPr lang="en-US" b="1" dirty="0"/>
              <a:t>Key Inputs</a:t>
            </a:r>
            <a:endParaRPr lang="en-US" dirty="0"/>
          </a:p>
          <a:p>
            <a:pPr lvl="1"/>
            <a:r>
              <a:rPr lang="en-US" dirty="0"/>
              <a:t>Vertical drop</a:t>
            </a:r>
          </a:p>
          <a:p>
            <a:pPr lvl="1"/>
            <a:r>
              <a:rPr lang="en-US" dirty="0"/>
              <a:t>Total skiable acreage</a:t>
            </a:r>
          </a:p>
          <a:p>
            <a:pPr lvl="1"/>
            <a:r>
              <a:rPr lang="en-US" dirty="0"/>
              <a:t>Lift capacity</a:t>
            </a:r>
          </a:p>
          <a:p>
            <a:pPr lvl="1"/>
            <a:r>
              <a:rPr lang="en-US" dirty="0"/>
              <a:t>Terrain scale and infrastructure</a:t>
            </a:r>
          </a:p>
          <a:p>
            <a:r>
              <a:rPr lang="en-US" b="1" dirty="0"/>
              <a:t>Why This Matters</a:t>
            </a:r>
            <a:br>
              <a:rPr lang="en-US" dirty="0"/>
            </a:br>
            <a:r>
              <a:rPr lang="en-US" dirty="0"/>
              <a:t>The model compares Big Mountain only to </a:t>
            </a:r>
            <a:r>
              <a:rPr lang="en-US" b="1" dirty="0"/>
              <a:t>structurally similar resorts</a:t>
            </a:r>
            <a:r>
              <a:rPr lang="en-US" dirty="0"/>
              <a:t>, not local averages.</a:t>
            </a:r>
          </a:p>
          <a:p>
            <a:endParaRPr lang="en-US" sz="20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2E3F4B3-016F-44DC-945C-E4086E31532F}"/>
              </a:ext>
            </a:extLst>
          </p:cNvPr>
          <p:cNvSpPr/>
          <p:nvPr/>
        </p:nvSpPr>
        <p:spPr>
          <a:xfrm>
            <a:off x="301490" y="3543155"/>
            <a:ext cx="8157164" cy="132632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060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CC747-8DD0-41E8-9E62-0D7132A37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Modeling Results: Defining Value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E89C2-BB8A-4294-9F44-9155EE684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2096064"/>
            <a:ext cx="7765322" cy="399720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Headline: What actually drives our ticket price?</a:t>
            </a:r>
          </a:p>
          <a:p>
            <a:r>
              <a:rPr lang="en-US" dirty="0"/>
              <a:t>The Analysis: We used a Random Forest machine learning model to identify the "Value Drivers" across hundreds of resorts.</a:t>
            </a:r>
          </a:p>
          <a:p>
            <a:r>
              <a:rPr lang="en-US" dirty="0"/>
              <a:t>Top Drivers: 1. Vertical Drop, 2. Lift Capacity, 3. Total Runs.</a:t>
            </a:r>
          </a:p>
          <a:p>
            <a:endParaRPr lang="en-US" dirty="0"/>
          </a:p>
          <a:p>
            <a:r>
              <a:rPr lang="en-US" dirty="0"/>
              <a:t>Big Mountain’s Status: We score exceptionally high in all three categories, yet priced in the bottom half of comparable resorts</a:t>
            </a:r>
          </a:p>
          <a:p>
            <a:r>
              <a:rPr lang="en-US" dirty="0"/>
              <a:t>✅ The market values Big Mountain’s assets more than current pricing reflects  </a:t>
            </a:r>
          </a:p>
          <a:p>
            <a:r>
              <a:rPr lang="en-US" dirty="0"/>
              <a:t>➡️ which is why the model suggests a significant price jump is sustainable. </a:t>
            </a:r>
            <a:endParaRPr lang="en-US" sz="20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2E3F4B3-016F-44DC-945C-E4086E31532F}"/>
              </a:ext>
            </a:extLst>
          </p:cNvPr>
          <p:cNvSpPr/>
          <p:nvPr/>
        </p:nvSpPr>
        <p:spPr>
          <a:xfrm>
            <a:off x="461893" y="3169650"/>
            <a:ext cx="8056195" cy="77088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429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CC747-8DD0-41E8-9E62-0D7132A37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Modeling outcomes</a:t>
            </a:r>
            <a:endParaRPr lang="en-US" sz="4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B18C0AD-30C3-4D0B-865F-3E0494D27D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6204936"/>
              </p:ext>
            </p:extLst>
          </p:nvPr>
        </p:nvGraphicFramePr>
        <p:xfrm>
          <a:off x="694189" y="1779595"/>
          <a:ext cx="7871648" cy="43256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67912">
                  <a:extLst>
                    <a:ext uri="{9D8B030D-6E8A-4147-A177-3AD203B41FA5}">
                      <a16:colId xmlns:a16="http://schemas.microsoft.com/office/drawing/2014/main" val="2664691228"/>
                    </a:ext>
                  </a:extLst>
                </a:gridCol>
                <a:gridCol w="1967912">
                  <a:extLst>
                    <a:ext uri="{9D8B030D-6E8A-4147-A177-3AD203B41FA5}">
                      <a16:colId xmlns:a16="http://schemas.microsoft.com/office/drawing/2014/main" val="1251832378"/>
                    </a:ext>
                  </a:extLst>
                </a:gridCol>
                <a:gridCol w="1967912">
                  <a:extLst>
                    <a:ext uri="{9D8B030D-6E8A-4147-A177-3AD203B41FA5}">
                      <a16:colId xmlns:a16="http://schemas.microsoft.com/office/drawing/2014/main" val="4174217994"/>
                    </a:ext>
                  </a:extLst>
                </a:gridCol>
                <a:gridCol w="1967912">
                  <a:extLst>
                    <a:ext uri="{9D8B030D-6E8A-4147-A177-3AD203B41FA5}">
                      <a16:colId xmlns:a16="http://schemas.microsoft.com/office/drawing/2014/main" val="4226232135"/>
                    </a:ext>
                  </a:extLst>
                </a:gridCol>
              </a:tblGrid>
              <a:tr h="2897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Scenario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Strategic Action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Price Change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Annual Revenue Impact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297887792"/>
                  </a:ext>
                </a:extLst>
              </a:tr>
              <a:tr h="90467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Market Realignment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Bump to $94.22 (Baseline)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+$13.22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+$23,135,000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219883"/>
                  </a:ext>
                </a:extLst>
              </a:tr>
              <a:tr h="90467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Scenario 2: add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Add new 'Big White' lift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+$1.99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+$3,482,500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573443"/>
                  </a:ext>
                </a:extLst>
              </a:tr>
              <a:tr h="108696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Scenario 3: expand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Add 6 runs + 150ft Vertical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+$1.54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+$2,695,000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484533"/>
                  </a:ext>
                </a:extLst>
              </a:tr>
              <a:tr h="108696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Scenario 4: trim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Close least-used runs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$0.00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$0 (Plus major cost savings)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28989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2E3F4B3-016F-44DC-945C-E4086E31532F}"/>
              </a:ext>
            </a:extLst>
          </p:cNvPr>
          <p:cNvSpPr/>
          <p:nvPr/>
        </p:nvSpPr>
        <p:spPr>
          <a:xfrm>
            <a:off x="601915" y="3105916"/>
            <a:ext cx="8056195" cy="77088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524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CC747-8DD0-41E8-9E62-0D7132A37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Scenario 2: add NEW LIFT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E89C2-BB8A-4294-9F44-9155EE684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2096064"/>
            <a:ext cx="7765322" cy="399720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Management Concern</a:t>
            </a:r>
          </a:p>
          <a:p>
            <a:pPr lvl="1"/>
            <a:r>
              <a:rPr lang="en-US" dirty="0"/>
              <a:t>New lift operating cost: $1.54M annually</a:t>
            </a:r>
          </a:p>
          <a:p>
            <a:r>
              <a:rPr lang="en-US" dirty="0"/>
              <a:t>Data Perspective</a:t>
            </a:r>
          </a:p>
          <a:p>
            <a:pPr lvl="1"/>
            <a:r>
              <a:rPr lang="en-US" dirty="0"/>
              <a:t>~350,000 visitors × 5 tickets = ~1.75M tickets</a:t>
            </a:r>
          </a:p>
          <a:p>
            <a:pPr lvl="1"/>
            <a:r>
              <a:rPr lang="en-US" dirty="0"/>
              <a:t>Cost per ticket: ~$0.88</a:t>
            </a:r>
          </a:p>
          <a:p>
            <a:r>
              <a:rPr lang="en-US" dirty="0"/>
              <a:t>ROI Reality</a:t>
            </a:r>
          </a:p>
          <a:p>
            <a:pPr lvl="1"/>
            <a:r>
              <a:rPr lang="en-US" dirty="0"/>
              <a:t>A $1 increase fully covers the lift</a:t>
            </a:r>
          </a:p>
          <a:p>
            <a:pPr lvl="1"/>
            <a:r>
              <a:rPr lang="en-US" dirty="0"/>
              <a:t>The recommended $13.22 increase makes the cost negligible</a:t>
            </a:r>
          </a:p>
          <a:p>
            <a:r>
              <a:rPr lang="en-US" dirty="0"/>
              <a:t>✅ Strategic Benefit</a:t>
            </a:r>
          </a:p>
          <a:p>
            <a:pPr lvl="1"/>
            <a:r>
              <a:rPr lang="en-US" dirty="0"/>
              <a:t>The lift provides a clear, public-facing justification for price realignment.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2E3F4B3-016F-44DC-945C-E4086E31532F}"/>
              </a:ext>
            </a:extLst>
          </p:cNvPr>
          <p:cNvSpPr/>
          <p:nvPr/>
        </p:nvSpPr>
        <p:spPr>
          <a:xfrm>
            <a:off x="656072" y="2837510"/>
            <a:ext cx="7991775" cy="216913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085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CC747-8DD0-41E8-9E62-0D7132A37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Scenario 3, 4: </a:t>
            </a:r>
            <a:br>
              <a:rPr lang="en-US" sz="2800" dirty="0"/>
            </a:br>
            <a:r>
              <a:rPr lang="en-US" sz="2800" dirty="0"/>
              <a:t>growth vs efficiency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E89C2-BB8A-4294-9F44-9155EE684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2096064"/>
            <a:ext cx="7765322" cy="3997202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Scenario 3: Expansion</a:t>
            </a:r>
            <a:endParaRPr lang="en-US" dirty="0"/>
          </a:p>
          <a:p>
            <a:pPr lvl="1"/>
            <a:r>
              <a:rPr lang="en-US" dirty="0"/>
              <a:t>Add 6 runs + 150 ft vertical</a:t>
            </a:r>
          </a:p>
          <a:p>
            <a:pPr lvl="1"/>
            <a:r>
              <a:rPr lang="en-US" dirty="0"/>
              <a:t>Supported price increase: </a:t>
            </a:r>
            <a:r>
              <a:rPr lang="en-US" b="1" dirty="0"/>
              <a:t>+$1.54</a:t>
            </a:r>
            <a:endParaRPr lang="en-US" dirty="0"/>
          </a:p>
          <a:p>
            <a:pPr lvl="1"/>
            <a:r>
              <a:rPr lang="en-US" dirty="0"/>
              <a:t>Incremental revenue: </a:t>
            </a:r>
            <a:r>
              <a:rPr lang="en-US" b="1" dirty="0"/>
              <a:t>$2.7M</a:t>
            </a:r>
            <a:endParaRPr lang="en-US" dirty="0"/>
          </a:p>
          <a:p>
            <a:pPr lvl="1"/>
            <a:r>
              <a:rPr lang="en-US" dirty="0"/>
              <a:t>Strengthens “Big Mountain” positioning</a:t>
            </a:r>
          </a:p>
          <a:p>
            <a:r>
              <a:rPr lang="en-US" b="1" dirty="0"/>
              <a:t>Scenario 4: Optimization</a:t>
            </a:r>
            <a:endParaRPr lang="en-US" dirty="0"/>
          </a:p>
          <a:p>
            <a:pPr lvl="1"/>
            <a:r>
              <a:rPr lang="en-US" dirty="0"/>
              <a:t>Closing 3 lowest-traffic runs has </a:t>
            </a:r>
            <a:r>
              <a:rPr lang="en-US" b="1" dirty="0"/>
              <a:t>no impact on price</a:t>
            </a:r>
            <a:endParaRPr lang="en-US" dirty="0"/>
          </a:p>
          <a:p>
            <a:pPr lvl="1"/>
            <a:r>
              <a:rPr lang="en-US" dirty="0"/>
              <a:t>Suggests opportunities for operational savings</a:t>
            </a:r>
          </a:p>
          <a:p>
            <a:r>
              <a:rPr lang="en-US" b="1" dirty="0"/>
              <a:t>The Play</a:t>
            </a:r>
            <a:br>
              <a:rPr lang="en-US" dirty="0"/>
            </a:br>
            <a:r>
              <a:rPr lang="en-US" dirty="0"/>
              <a:t>➡️ Prune low-value runs, reinvest savings into high-visibility expansion.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2E3F4B3-016F-44DC-945C-E4086E31532F}"/>
              </a:ext>
            </a:extLst>
          </p:cNvPr>
          <p:cNvSpPr/>
          <p:nvPr/>
        </p:nvSpPr>
        <p:spPr>
          <a:xfrm>
            <a:off x="516657" y="4842629"/>
            <a:ext cx="7991775" cy="111942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836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CC747-8DD0-41E8-9E62-0D7132A37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Model Limitations &amp; Why the Gap Exists</a:t>
            </a:r>
            <a:endParaRPr lang="en-US" sz="7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E89C2-BB8A-4294-9F44-9155EE684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2096064"/>
            <a:ext cx="7765322" cy="3997202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Where the Data Fell Short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Price-only focus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 rental, ski school, or F&amp;B revenue included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Ticket price may currently function as a loss leader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Incomplete cost data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 per-run marginal cost (labor, electricity, grooming)</a:t>
            </a:r>
          </a:p>
          <a:p>
            <a:r>
              <a:rPr lang="en-US" b="1" dirty="0"/>
              <a:t>Why $94 vs. $81?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 paper, Big Mountain is a </a:t>
            </a:r>
            <a:r>
              <a:rPr lang="en-US" b="1" dirty="0"/>
              <a:t>powerhouse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model monetizes assets — not tradition or brand legacy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Load factor data will confirm whether pricing or demand is the constraint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2E3F4B3-016F-44DC-945C-E4086E31532F}"/>
              </a:ext>
            </a:extLst>
          </p:cNvPr>
          <p:cNvSpPr/>
          <p:nvPr/>
        </p:nvSpPr>
        <p:spPr>
          <a:xfrm>
            <a:off x="516657" y="4635733"/>
            <a:ext cx="7991775" cy="13263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996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CC747-8DD0-41E8-9E62-0D7132A37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Summary, Next Steps &amp; Takeaway </a:t>
            </a:r>
            <a:endParaRPr lang="en-US" sz="16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E89C2-BB8A-4294-9F44-9155EE684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2096064"/>
            <a:ext cx="7765322" cy="3997202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What We Know</a:t>
            </a:r>
            <a:endParaRPr lang="en-US" dirty="0"/>
          </a:p>
          <a:p>
            <a:pPr lvl="1"/>
            <a:r>
              <a:rPr lang="en-US" dirty="0"/>
              <a:t>Big Mountain is structurally underpriced</a:t>
            </a:r>
          </a:p>
          <a:p>
            <a:pPr lvl="1"/>
            <a:r>
              <a:rPr lang="en-US" dirty="0"/>
              <a:t>A data-backed path to </a:t>
            </a:r>
            <a:r>
              <a:rPr lang="en-US" b="1" dirty="0"/>
              <a:t>$23.1M in revenue</a:t>
            </a:r>
            <a:r>
              <a:rPr lang="en-US" dirty="0"/>
              <a:t> exists</a:t>
            </a:r>
          </a:p>
          <a:p>
            <a:pPr lvl="1"/>
            <a:r>
              <a:rPr lang="en-US" dirty="0"/>
              <a:t>Infrastructure investments already justify higher pricing</a:t>
            </a:r>
          </a:p>
          <a:p>
            <a:r>
              <a:rPr lang="en-US" b="1" dirty="0"/>
              <a:t>What We Recommend</a:t>
            </a:r>
            <a:endParaRPr lang="en-US" dirty="0"/>
          </a:p>
          <a:p>
            <a:pPr lvl="1"/>
            <a:r>
              <a:rPr lang="en-US" dirty="0"/>
              <a:t>Implement a phased price realignment</a:t>
            </a:r>
          </a:p>
          <a:p>
            <a:pPr lvl="1"/>
            <a:r>
              <a:rPr lang="en-US" dirty="0"/>
              <a:t>Use lift data to validate capacity utilization</a:t>
            </a:r>
          </a:p>
          <a:p>
            <a:pPr lvl="1"/>
            <a:r>
              <a:rPr lang="en-US" dirty="0"/>
              <a:t>Build a </a:t>
            </a:r>
            <a:r>
              <a:rPr lang="en-US" b="1" dirty="0"/>
              <a:t>self-service dashboard</a:t>
            </a:r>
            <a:r>
              <a:rPr lang="en-US" dirty="0"/>
              <a:t> for future capital decisions</a:t>
            </a:r>
          </a:p>
          <a:p>
            <a:r>
              <a:rPr lang="en-US" b="1" dirty="0"/>
              <a:t>Final Takeaway</a:t>
            </a:r>
            <a:br>
              <a:rPr lang="en-US" dirty="0"/>
            </a:br>
            <a:r>
              <a:rPr lang="en-US" dirty="0"/>
              <a:t>➡️ This is not just a price increase — it’s a </a:t>
            </a:r>
            <a:r>
              <a:rPr lang="en-US" b="1" dirty="0"/>
              <a:t>repositioning of Big Mountain as a market leader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2E3F4B3-016F-44DC-945C-E4086E31532F}"/>
              </a:ext>
            </a:extLst>
          </p:cNvPr>
          <p:cNvSpPr/>
          <p:nvPr/>
        </p:nvSpPr>
        <p:spPr>
          <a:xfrm>
            <a:off x="572119" y="4844855"/>
            <a:ext cx="7991775" cy="13263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3148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69</TotalTime>
  <Words>1147</Words>
  <Application>Microsoft Office PowerPoint</Application>
  <PresentationFormat>On-screen Show (4:3)</PresentationFormat>
  <Paragraphs>130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Bookman Old Style</vt:lpstr>
      <vt:lpstr>Calibri</vt:lpstr>
      <vt:lpstr>Rockwell</vt:lpstr>
      <vt:lpstr>Wingdings</vt:lpstr>
      <vt:lpstr>Damask</vt:lpstr>
      <vt:lpstr>CAP1: Big Mountain Resort modeling</vt:lpstr>
      <vt:lpstr>Problem id: Are We Underpricing the resort?</vt:lpstr>
      <vt:lpstr>Problem context: How to find data-driven solution?</vt:lpstr>
      <vt:lpstr>CRITERIA for success</vt:lpstr>
      <vt:lpstr>Recommendation &amp; Key Findings — The $23M Opportunity</vt:lpstr>
      <vt:lpstr>Modeling Approach — How We Arrived at $94.22 PRICE</vt:lpstr>
      <vt:lpstr>Modeling Results: Defining Value</vt:lpstr>
      <vt:lpstr>Modeling outcomes</vt:lpstr>
      <vt:lpstr>Scenario 2: add NEW LIFT</vt:lpstr>
      <vt:lpstr>Scenario 3, 4:  growth vs efficiency</vt:lpstr>
      <vt:lpstr>Model Limitations &amp; Why the Gap Exists</vt:lpstr>
      <vt:lpstr>Summary, Next Steps &amp; Takeaway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 Worksheet (Hypothesis Formation)</dc:title>
  <dc:creator>Christopher H</dc:creator>
  <cp:lastModifiedBy>Irina Kim</cp:lastModifiedBy>
  <cp:revision>31</cp:revision>
  <dcterms:modified xsi:type="dcterms:W3CDTF">2025-12-18T02:28:10Z</dcterms:modified>
</cp:coreProperties>
</file>